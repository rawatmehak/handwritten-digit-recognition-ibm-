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605E4-532E-D8D0-F27A-F52562374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878" y="531329"/>
            <a:ext cx="10993549" cy="1020605"/>
          </a:xfrm>
        </p:spPr>
        <p:txBody>
          <a:bodyPr/>
          <a:lstStyle/>
          <a:p>
            <a:r>
              <a:rPr lang="en-IN" dirty="0"/>
              <a:t>Handwritten Digit Recognition using CNN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09D8B-8819-BEA8-DBB6-51CEFD758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7" y="1897627"/>
            <a:ext cx="10993546" cy="794850"/>
          </a:xfrm>
        </p:spPr>
        <p:txBody>
          <a:bodyPr>
            <a:normAutofit/>
          </a:bodyPr>
          <a:lstStyle/>
          <a:p>
            <a:r>
              <a:rPr lang="en-US" dirty="0">
                <a:latin typeface="Arial Black" panose="020B0A04020102020204" charset="0"/>
                <a:cs typeface="Arial Black" panose="020B0A04020102020204" charset="0"/>
              </a:rPr>
              <a:t>Name: Mehak </a:t>
            </a:r>
            <a:r>
              <a:rPr lang="en-US" dirty="0" err="1">
                <a:latin typeface="Arial Black" panose="020B0A04020102020204" charset="0"/>
                <a:cs typeface="Arial Black" panose="020B0A04020102020204" charset="0"/>
              </a:rPr>
              <a:t>rawat</a:t>
            </a:r>
            <a:endParaRPr lang="en-US" dirty="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en-US" dirty="0">
                <a:latin typeface="Arial Black" panose="020B0A04020102020204" charset="0"/>
                <a:cs typeface="Arial Black" panose="020B0A04020102020204" charset="0"/>
              </a:rPr>
              <a:t>PBEL Internship Project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3ACB7-C358-0515-133A-286A5C1F0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403" y="3128325"/>
            <a:ext cx="5753504" cy="319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881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F9AE6-435A-DF64-15C7-3A94AF49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B56050-A3A1-566A-224B-1B46FF1F87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8299" y="2561343"/>
            <a:ext cx="1075540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Handwritten digit recognition is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vision problem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 is to recognize digits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0–9 written by humans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uses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techniques</a:t>
            </a: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(CNN)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integrates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with a web application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711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4A7D8-5865-A3AB-8B9A-5E171C6CA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29A70F-BBD7-6DD1-647A-E80DBDBAC3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9850" y="2210604"/>
            <a:ext cx="1002069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Handwritten digits are difficult to interpret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writing styles create classification challenges.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processing is time-consuming.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an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system for automatic digit recognition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953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3372A-8A03-61C2-B289-6C3C5133C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5DA88-41A6-0458-4406-AA2AA59F3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8878" y="2563954"/>
            <a:ext cx="6843251" cy="367830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8000" b="1" dirty="0"/>
              <a:t>Frontend</a:t>
            </a:r>
          </a:p>
          <a:p>
            <a:pPr marL="0" indent="0">
              <a:buNone/>
            </a:pPr>
            <a:r>
              <a:rPr lang="en-IN" sz="8000" dirty="0"/>
              <a:t>   React</a:t>
            </a:r>
          </a:p>
          <a:p>
            <a:pPr marL="0" indent="0">
              <a:buNone/>
            </a:pPr>
            <a:r>
              <a:rPr lang="en-IN" sz="8000" dirty="0"/>
              <a:t>   Tailwind CSS</a:t>
            </a:r>
          </a:p>
          <a:p>
            <a:pPr marL="0" indent="0">
              <a:buNone/>
            </a:pPr>
            <a:r>
              <a:rPr lang="en-IN" sz="8000" dirty="0"/>
              <a:t>   HTML Canvas</a:t>
            </a:r>
          </a:p>
          <a:p>
            <a:pPr marL="0" indent="0">
              <a:buNone/>
            </a:pPr>
            <a:r>
              <a:rPr lang="en-IN" sz="8000" b="1" dirty="0"/>
              <a:t>Backend</a:t>
            </a:r>
          </a:p>
          <a:p>
            <a:pPr marL="0" indent="0">
              <a:buNone/>
            </a:pPr>
            <a:r>
              <a:rPr lang="en-IN" sz="8000" dirty="0"/>
              <a:t>   Python</a:t>
            </a:r>
          </a:p>
          <a:p>
            <a:pPr marL="0" indent="0">
              <a:buNone/>
            </a:pPr>
            <a:r>
              <a:rPr lang="en-IN" sz="8000" dirty="0"/>
              <a:t>   Flask</a:t>
            </a:r>
          </a:p>
          <a:p>
            <a:pPr marL="0" indent="0">
              <a:buNone/>
            </a:pPr>
            <a:r>
              <a:rPr lang="en-IN" sz="8000" dirty="0"/>
              <a:t>   OpenCV</a:t>
            </a:r>
          </a:p>
          <a:p>
            <a:pPr marL="0" indent="0">
              <a:buNone/>
            </a:pPr>
            <a:r>
              <a:rPr lang="en-IN" sz="8000" b="1" dirty="0"/>
              <a:t>Machine Learning</a:t>
            </a:r>
          </a:p>
          <a:p>
            <a:pPr marL="0" indent="0">
              <a:buNone/>
            </a:pPr>
            <a:r>
              <a:rPr lang="en-IN" sz="8000" dirty="0"/>
              <a:t>   TensorFlow</a:t>
            </a:r>
          </a:p>
          <a:p>
            <a:pPr marL="0" indent="0">
              <a:buNone/>
            </a:pPr>
            <a:r>
              <a:rPr lang="en-IN" sz="8000" dirty="0"/>
              <a:t>   </a:t>
            </a:r>
            <a:r>
              <a:rPr lang="en-IN" sz="8000" dirty="0" err="1"/>
              <a:t>Keras</a:t>
            </a:r>
            <a:endParaRPr lang="en-IN" sz="8000" dirty="0"/>
          </a:p>
          <a:p>
            <a:pPr marL="0" indent="0">
              <a:buNone/>
            </a:pPr>
            <a:r>
              <a:rPr lang="en-IN" sz="8000" dirty="0"/>
              <a:t>   CNN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7491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CA805-89CA-80CD-9420-D2DF5D9B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(MNIST)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C101F-D78F-FC30-7407-C9B79BF18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477541"/>
            <a:ext cx="11029615" cy="3678303"/>
          </a:xfrm>
        </p:spPr>
        <p:txBody>
          <a:bodyPr/>
          <a:lstStyle/>
          <a:p>
            <a:r>
              <a:rPr lang="en-US" sz="2000" dirty="0"/>
              <a:t>MNIST is a popular dataset for handwritten digit recognition.</a:t>
            </a:r>
          </a:p>
          <a:p>
            <a:r>
              <a:rPr lang="en-US" sz="2000" dirty="0"/>
              <a:t>Dataset details:</a:t>
            </a:r>
          </a:p>
          <a:p>
            <a:r>
              <a:rPr lang="en-US" sz="2000" dirty="0"/>
              <a:t>Total Images: </a:t>
            </a:r>
            <a:r>
              <a:rPr lang="en-US" sz="2000" b="1" dirty="0"/>
              <a:t>70,000</a:t>
            </a:r>
            <a:endParaRPr lang="en-US" sz="2000" dirty="0"/>
          </a:p>
          <a:p>
            <a:r>
              <a:rPr lang="en-US" sz="2000" dirty="0"/>
              <a:t>Training Images: </a:t>
            </a:r>
            <a:r>
              <a:rPr lang="en-US" sz="2000" b="1" dirty="0"/>
              <a:t>60,000</a:t>
            </a:r>
            <a:endParaRPr lang="en-US" sz="2000" dirty="0"/>
          </a:p>
          <a:p>
            <a:r>
              <a:rPr lang="en-US" sz="2000" dirty="0"/>
              <a:t>Testing Images: </a:t>
            </a:r>
            <a:r>
              <a:rPr lang="en-US" sz="2000" b="1" dirty="0"/>
              <a:t>10,000</a:t>
            </a:r>
            <a:endParaRPr lang="en-US" sz="2000" dirty="0"/>
          </a:p>
          <a:p>
            <a:r>
              <a:rPr lang="en-US" sz="2000" dirty="0"/>
              <a:t>Image Size: </a:t>
            </a:r>
            <a:r>
              <a:rPr lang="en-US" sz="2000" b="1" dirty="0"/>
              <a:t>28 × 28 pixels</a:t>
            </a:r>
            <a:endParaRPr lang="en-US" sz="2000" dirty="0"/>
          </a:p>
          <a:p>
            <a:r>
              <a:rPr lang="en-US" sz="2000" dirty="0"/>
              <a:t>Classes: </a:t>
            </a:r>
            <a:r>
              <a:rPr lang="en-US" sz="2000" b="1" dirty="0"/>
              <a:t>Digits 0–9</a:t>
            </a:r>
            <a:endParaRPr lang="en-US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299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A901D-FEA0-9B67-8C0B-85F0217E9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MNIST Images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103C61-0937-5580-BD1F-983A2B8226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274" y="2744966"/>
            <a:ext cx="3686689" cy="21377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980DA9-F5D1-1F84-3CBB-7ABDE2829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061" y="2569884"/>
            <a:ext cx="3245993" cy="21031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74919E-EDFA-088E-4D71-694F92CE4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878" y="2691658"/>
            <a:ext cx="2410161" cy="21910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048CB1-68F6-7956-7A6B-37FDC790C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9687" y="2569884"/>
            <a:ext cx="2048161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28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C8C67-97E7-DC8F-A342-F9553512B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EAE88-C716-8073-DF3D-F53684D33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814" y="2386973"/>
            <a:ext cx="8454652" cy="3877025"/>
          </a:xfrm>
        </p:spPr>
        <p:txBody>
          <a:bodyPr>
            <a:normAutofit fontScale="92500" lnSpcReduction="10000"/>
          </a:bodyPr>
          <a:lstStyle/>
          <a:p>
            <a:r>
              <a:rPr lang="en-IN" sz="1900" dirty="0"/>
              <a:t>System workflow:</a:t>
            </a:r>
          </a:p>
          <a:p>
            <a:pPr marL="0" indent="0">
              <a:buNone/>
            </a:pPr>
            <a:r>
              <a:rPr lang="en-IN" sz="1900" dirty="0"/>
              <a:t>User draws digit</a:t>
            </a:r>
            <a:br>
              <a:rPr lang="en-IN" sz="1900" dirty="0"/>
            </a:br>
            <a:r>
              <a:rPr lang="en-IN" sz="1900" dirty="0"/>
              <a:t>↓</a:t>
            </a:r>
            <a:br>
              <a:rPr lang="en-IN" sz="1900" dirty="0"/>
            </a:br>
            <a:r>
              <a:rPr lang="en-IN" sz="1900" dirty="0"/>
              <a:t>React Canvas Interface</a:t>
            </a:r>
            <a:br>
              <a:rPr lang="en-IN" sz="1900" dirty="0"/>
            </a:br>
            <a:r>
              <a:rPr lang="en-IN" sz="1900" dirty="0"/>
              <a:t>↓</a:t>
            </a:r>
            <a:br>
              <a:rPr lang="en-IN" sz="1900" dirty="0"/>
            </a:br>
            <a:r>
              <a:rPr lang="en-IN" sz="1900" dirty="0"/>
              <a:t>Image converted to Base64</a:t>
            </a:r>
            <a:br>
              <a:rPr lang="en-IN" sz="1900" dirty="0"/>
            </a:br>
            <a:r>
              <a:rPr lang="en-IN" sz="1900" dirty="0"/>
              <a:t>↓</a:t>
            </a:r>
            <a:br>
              <a:rPr lang="en-IN" sz="1900" dirty="0"/>
            </a:br>
            <a:r>
              <a:rPr lang="en-IN" sz="1900" dirty="0"/>
              <a:t>Flask API</a:t>
            </a:r>
            <a:br>
              <a:rPr lang="en-IN" sz="1900" dirty="0"/>
            </a:br>
            <a:r>
              <a:rPr lang="en-IN" sz="1900" dirty="0"/>
              <a:t>↓</a:t>
            </a:r>
            <a:br>
              <a:rPr lang="en-IN" sz="1900" dirty="0"/>
            </a:br>
            <a:r>
              <a:rPr lang="en-IN" sz="1900" dirty="0"/>
              <a:t>Image preprocessing</a:t>
            </a:r>
            <a:br>
              <a:rPr lang="en-IN" sz="1900" dirty="0"/>
            </a:br>
            <a:r>
              <a:rPr lang="en-IN" sz="1900" dirty="0"/>
              <a:t>↓</a:t>
            </a:r>
            <a:br>
              <a:rPr lang="en-IN" sz="1900" dirty="0"/>
            </a:br>
            <a:r>
              <a:rPr lang="en-IN" sz="1900" dirty="0"/>
              <a:t>CNN model prediction</a:t>
            </a:r>
            <a:br>
              <a:rPr lang="en-IN" sz="1900" dirty="0"/>
            </a:br>
            <a:r>
              <a:rPr lang="en-IN" sz="1900" dirty="0"/>
              <a:t>↓</a:t>
            </a:r>
            <a:br>
              <a:rPr lang="en-IN" sz="1900" dirty="0"/>
            </a:br>
            <a:r>
              <a:rPr lang="en-IN" sz="1900" dirty="0"/>
              <a:t>Result displayed on frontend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7014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FC03-4BBB-2B7F-A51D-7613E0FA0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61760-D909-3906-8003-5FF3AAE0F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44" y="2622948"/>
            <a:ext cx="11029615" cy="367830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/>
              <a:t>Steps involved:</a:t>
            </a:r>
          </a:p>
          <a:p>
            <a:pPr marL="0" indent="0">
              <a:buNone/>
            </a:pPr>
            <a:r>
              <a:rPr lang="en-US" sz="8000" b="1" dirty="0"/>
              <a:t>Capture Image</a:t>
            </a:r>
            <a:endParaRPr lang="en-US" sz="8000" dirty="0"/>
          </a:p>
          <a:p>
            <a:pPr lvl="1"/>
            <a:r>
              <a:rPr lang="en-US" sz="8000" dirty="0"/>
              <a:t>User draws a digit on the React canvas.</a:t>
            </a:r>
          </a:p>
          <a:p>
            <a:pPr marL="0" indent="0">
              <a:buNone/>
            </a:pPr>
            <a:r>
              <a:rPr lang="en-US" sz="8000" b="1" dirty="0"/>
              <a:t>Convert to Grayscale</a:t>
            </a:r>
            <a:endParaRPr lang="en-US" sz="8000" dirty="0"/>
          </a:p>
          <a:p>
            <a:pPr lvl="1"/>
            <a:r>
              <a:rPr lang="en-US" sz="8000" dirty="0"/>
              <a:t>The image is converted into grayscale format.</a:t>
            </a:r>
          </a:p>
          <a:p>
            <a:pPr marL="0" indent="0">
              <a:buNone/>
            </a:pPr>
            <a:r>
              <a:rPr lang="en-US" sz="8000" b="1" dirty="0"/>
              <a:t>Resize Image</a:t>
            </a:r>
            <a:endParaRPr lang="en-US" sz="8000" dirty="0"/>
          </a:p>
          <a:p>
            <a:pPr lvl="1"/>
            <a:r>
              <a:rPr lang="en-US" sz="8000" dirty="0"/>
              <a:t>The image is resized to </a:t>
            </a:r>
            <a:r>
              <a:rPr lang="en-US" sz="8000" b="1" dirty="0"/>
              <a:t>28 × 28 pixels</a:t>
            </a:r>
            <a:r>
              <a:rPr lang="en-US" sz="8000" dirty="0"/>
              <a:t>.</a:t>
            </a:r>
          </a:p>
          <a:p>
            <a:pPr marL="0" indent="0">
              <a:buNone/>
            </a:pPr>
            <a:r>
              <a:rPr lang="en-US" sz="8000" b="1" dirty="0"/>
              <a:t>Normalize Pixel Values</a:t>
            </a:r>
            <a:endParaRPr lang="en-US" sz="8000" dirty="0"/>
          </a:p>
          <a:p>
            <a:pPr lvl="1"/>
            <a:r>
              <a:rPr lang="en-US" sz="8000" dirty="0"/>
              <a:t>Pixel values are scaled between </a:t>
            </a:r>
            <a:r>
              <a:rPr lang="en-US" sz="8000" b="1" dirty="0"/>
              <a:t>0 and 1</a:t>
            </a:r>
            <a:r>
              <a:rPr lang="en-US" sz="8000" dirty="0"/>
              <a:t>.</a:t>
            </a:r>
          </a:p>
          <a:p>
            <a:pPr marL="0" indent="0">
              <a:buNone/>
            </a:pPr>
            <a:r>
              <a:rPr lang="en-US" sz="8000" b="1" dirty="0"/>
              <a:t>Reshape Image</a:t>
            </a:r>
            <a:endParaRPr lang="en-US" sz="8000" dirty="0"/>
          </a:p>
          <a:p>
            <a:pPr lvl="1"/>
            <a:r>
              <a:rPr lang="en-US" sz="8000" dirty="0"/>
              <a:t>Image reshaped to </a:t>
            </a:r>
            <a:r>
              <a:rPr lang="en-US" sz="8000" b="1" dirty="0"/>
              <a:t>(1, 28, 28, 1)</a:t>
            </a:r>
            <a:r>
              <a:rPr lang="en-US" sz="8000" dirty="0"/>
              <a:t> to match CNN input.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684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16913-FC1D-989E-042A-0BDD2372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CNN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359E0-B6AC-6AC2-AB04-A0008DCAD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288651"/>
            <a:ext cx="11029615" cy="3678303"/>
          </a:xfrm>
        </p:spPr>
        <p:txBody>
          <a:bodyPr/>
          <a:lstStyle/>
          <a:p>
            <a:r>
              <a:rPr lang="en-IN" sz="2000" dirty="0"/>
              <a:t>The Convolutional Neural Network includes:</a:t>
            </a:r>
          </a:p>
          <a:p>
            <a:r>
              <a:rPr lang="en-IN" sz="2000" dirty="0"/>
              <a:t>Input Layer (28×28 image)</a:t>
            </a:r>
          </a:p>
          <a:p>
            <a:r>
              <a:rPr lang="en-IN" sz="2000" dirty="0"/>
              <a:t>Convolution Layer</a:t>
            </a:r>
          </a:p>
          <a:p>
            <a:r>
              <a:rPr lang="en-IN" sz="2000" dirty="0" err="1"/>
              <a:t>ReLU</a:t>
            </a:r>
            <a:r>
              <a:rPr lang="en-IN" sz="2000" dirty="0"/>
              <a:t> Activation</a:t>
            </a:r>
          </a:p>
          <a:p>
            <a:r>
              <a:rPr lang="en-IN" sz="2000" dirty="0" err="1"/>
              <a:t>MaxPooling</a:t>
            </a:r>
            <a:r>
              <a:rPr lang="en-IN" sz="2000" dirty="0"/>
              <a:t> Layer</a:t>
            </a:r>
          </a:p>
          <a:p>
            <a:r>
              <a:rPr lang="en-IN" sz="2000" dirty="0"/>
              <a:t>Flatten Layer</a:t>
            </a:r>
          </a:p>
          <a:p>
            <a:r>
              <a:rPr lang="en-IN" sz="2000" dirty="0"/>
              <a:t>Dense Layer</a:t>
            </a:r>
          </a:p>
          <a:p>
            <a:r>
              <a:rPr lang="en-IN" sz="2000" dirty="0" err="1"/>
              <a:t>Softmax</a:t>
            </a:r>
            <a:r>
              <a:rPr lang="en-IN" sz="2000" dirty="0"/>
              <a:t> Output Layer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8772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CDE8C-5170-74B0-7084-B0FAADF40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6A12E-A0EF-B204-A8A0-3AADE0C47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Steps before prediction:</a:t>
            </a:r>
          </a:p>
          <a:p>
            <a:r>
              <a:rPr lang="en-US" sz="2000" dirty="0"/>
              <a:t>Convert image to grayscale</a:t>
            </a:r>
          </a:p>
          <a:p>
            <a:r>
              <a:rPr lang="en-US" sz="2000" dirty="0"/>
              <a:t>Resize image to </a:t>
            </a:r>
            <a:r>
              <a:rPr lang="en-US" sz="2000" b="1" dirty="0"/>
              <a:t>28×28</a:t>
            </a:r>
            <a:endParaRPr lang="en-US" sz="2000" dirty="0"/>
          </a:p>
          <a:p>
            <a:r>
              <a:rPr lang="en-US" sz="2000" dirty="0"/>
              <a:t>Normalize pixel values</a:t>
            </a:r>
          </a:p>
          <a:p>
            <a:r>
              <a:rPr lang="en-US" sz="2000" dirty="0"/>
              <a:t>Reshape image for CNN input</a:t>
            </a:r>
          </a:p>
          <a:p>
            <a:r>
              <a:rPr lang="en-US" sz="2000" dirty="0"/>
              <a:t>This ensures compatibility with the </a:t>
            </a:r>
            <a:r>
              <a:rPr lang="en-US" sz="2000" b="1" dirty="0"/>
              <a:t>trained model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9823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F934-E7FD-E942-13C1-17C817066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Training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8D7D1-C179-05AB-6A76-34A178708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/>
              <a:t>Model training includes:</a:t>
            </a:r>
          </a:p>
          <a:p>
            <a:r>
              <a:rPr lang="en-IN" sz="2000" dirty="0"/>
              <a:t>Loading MNIST dataset</a:t>
            </a:r>
          </a:p>
          <a:p>
            <a:r>
              <a:rPr lang="en-IN" sz="2000" dirty="0"/>
              <a:t>Data normalization</a:t>
            </a:r>
          </a:p>
          <a:p>
            <a:r>
              <a:rPr lang="en-IN" sz="2000" dirty="0"/>
              <a:t>CNN training using TensorFlow</a:t>
            </a:r>
          </a:p>
          <a:p>
            <a:r>
              <a:rPr lang="en-IN" sz="2000" dirty="0"/>
              <a:t>Validation using test dataset</a:t>
            </a:r>
          </a:p>
          <a:p>
            <a:r>
              <a:rPr lang="en-IN" sz="2000" dirty="0"/>
              <a:t>Saving trained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8917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F1046-C227-1005-2533-C25A9A2A5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using graphs(matplotlib)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5696C-A7B5-EFFC-E5BD-FC877C9F1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172" y="2152340"/>
            <a:ext cx="5087075" cy="536005"/>
          </a:xfrm>
        </p:spPr>
        <p:txBody>
          <a:bodyPr/>
          <a:lstStyle/>
          <a:p>
            <a:r>
              <a:rPr lang="en-IN" sz="2000" dirty="0"/>
              <a:t>Accuracy vs Epoch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49B8D-EF20-79CB-2C0D-3F68B528C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Loss vs Epoch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AF155DA-6824-A478-4619-6AEE348BC40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987846" y="2804265"/>
            <a:ext cx="5623130" cy="3508044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A0BD6215-FC33-0814-A4D8-DBD2A14253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51123" y="2590023"/>
            <a:ext cx="5718124" cy="372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89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0AB67-7230-E3E7-A8F4-6CED73C39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889B9-0A4B-8FB1-0374-D3E95ECDF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1837" y="2150999"/>
            <a:ext cx="3577853" cy="36783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Model performance:</a:t>
            </a:r>
          </a:p>
          <a:p>
            <a:r>
              <a:rPr lang="en-US" dirty="0"/>
              <a:t>Training Accuracy ≈ </a:t>
            </a:r>
            <a:r>
              <a:rPr lang="en-US" b="1" dirty="0"/>
              <a:t>99%</a:t>
            </a:r>
            <a:endParaRPr lang="en-US" dirty="0"/>
          </a:p>
          <a:p>
            <a:r>
              <a:rPr lang="en-US" dirty="0"/>
              <a:t>Test Accuracy ≈ </a:t>
            </a:r>
            <a:r>
              <a:rPr lang="en-US" b="1" dirty="0"/>
              <a:t>98%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User draws digit :</a:t>
            </a:r>
            <a:r>
              <a:rPr lang="en-US" b="1" dirty="0"/>
              <a:t>2</a:t>
            </a:r>
            <a:br>
              <a:rPr lang="en-US" dirty="0"/>
            </a:br>
            <a:r>
              <a:rPr lang="en-US" dirty="0"/>
              <a:t>Prediction → </a:t>
            </a:r>
            <a:r>
              <a:rPr lang="en-US" b="1" dirty="0"/>
              <a:t>2</a:t>
            </a:r>
            <a:br>
              <a:rPr lang="en-US" dirty="0"/>
            </a:br>
            <a:r>
              <a:rPr lang="en-US" dirty="0"/>
              <a:t>Confidence → </a:t>
            </a:r>
            <a:r>
              <a:rPr lang="en-US" b="1" dirty="0"/>
              <a:t>99.8%</a:t>
            </a:r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42CB4A-EDE3-6EC7-4F8E-5597B95BD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238" y="1856030"/>
            <a:ext cx="3490451" cy="46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33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31208-6C3B-1026-FCF2-ACC8B59DC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08D61-519C-90A0-5DE6-07469EAE4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Handwritten digit recognition is used in:</a:t>
            </a:r>
          </a:p>
          <a:p>
            <a:r>
              <a:rPr lang="en-IN" sz="2400" dirty="0"/>
              <a:t>Bank cheque processing</a:t>
            </a:r>
          </a:p>
          <a:p>
            <a:r>
              <a:rPr lang="en-IN" sz="2400" dirty="0"/>
              <a:t>Postal code recognition</a:t>
            </a:r>
          </a:p>
          <a:p>
            <a:r>
              <a:rPr lang="en-IN" sz="2400" dirty="0"/>
              <a:t>OCR systems</a:t>
            </a:r>
          </a:p>
          <a:p>
            <a:r>
              <a:rPr lang="en-IN" sz="2400" dirty="0"/>
              <a:t>Form digitization</a:t>
            </a:r>
          </a:p>
          <a:p>
            <a:r>
              <a:rPr lang="en-IN" sz="2400" dirty="0"/>
              <a:t>Automated document processing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491450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{4E46CEC3-2F03-4033-B4FD-D63E0202137B}TF319cfb39-eeba-4af5-a5a2-03d53d0375160e3309b2-0adf682d390f</Template>
  <TotalTime>186</TotalTime>
  <Words>406</Words>
  <Application>Microsoft Office PowerPoint</Application>
  <PresentationFormat>Widescreen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Gill Sans MT</vt:lpstr>
      <vt:lpstr>Wingdings 2</vt:lpstr>
      <vt:lpstr>Dividend</vt:lpstr>
      <vt:lpstr>Handwritten Digit Recognition using CNN</vt:lpstr>
      <vt:lpstr>Introduction</vt:lpstr>
      <vt:lpstr>Problem Statement</vt:lpstr>
      <vt:lpstr>Technologies Used</vt:lpstr>
      <vt:lpstr>Dataset (MNIST)</vt:lpstr>
      <vt:lpstr>Sample MNIST Images</vt:lpstr>
      <vt:lpstr>System Architecture</vt:lpstr>
      <vt:lpstr>Data Preprocessing</vt:lpstr>
      <vt:lpstr>CNN Architecture</vt:lpstr>
      <vt:lpstr>Image Preprocessing</vt:lpstr>
      <vt:lpstr>Training Process</vt:lpstr>
      <vt:lpstr>Comparison using graphs(matplotlib)</vt:lpstr>
      <vt:lpstr>Results</vt:lpstr>
      <vt:lpstr>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Mehak Rawat</dc:creator>
  <cp:lastModifiedBy>Mehak Rawat</cp:lastModifiedBy>
  <cp:revision>1</cp:revision>
  <dcterms:created xsi:type="dcterms:W3CDTF">2026-03-12T13:23:41Z</dcterms:created>
  <dcterms:modified xsi:type="dcterms:W3CDTF">2026-03-12T16:29:54Z</dcterms:modified>
</cp:coreProperties>
</file>